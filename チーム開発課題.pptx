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  <p:sldId id="263" r:id="rId9"/>
    <p:sldId id="265" r:id="rId10"/>
    <p:sldId id="266" r:id="rId11"/>
    <p:sldId id="269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7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627CEF-D340-42CB-8ABE-52CA499B81AC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48616F-B0BF-48F8-AF27-52E43854E1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4489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48616F-B0BF-48F8-AF27-52E43854E1F7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1599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48616F-B0BF-48F8-AF27-52E43854E1F7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1744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AEA37C-C810-3F2E-0A70-692287748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6724969-D82B-9638-A2E3-0920B25DD3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37A1EE-9D0C-AE99-E0C7-EB413365E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FD38-94A1-469D-A5E6-02BE9E58D2E4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83610A-5CC8-244C-B7EE-B35D619F6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E64988-FC04-3F06-94C6-200088520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611F-1F7A-49D5-ACFD-66616E09C5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5268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47B2CD-5FA4-522A-B684-771F2E5D1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9BB428E-677F-EBBA-B1C3-E711DD89B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DBDB6A-D89C-C2C1-59B4-C4721B618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FD38-94A1-469D-A5E6-02BE9E58D2E4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AAF461F-BBE9-B536-BCA0-138AF3285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9B4255-52A8-CACE-FB3A-F5BBADC02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611F-1F7A-49D5-ACFD-66616E09C5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460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0AEEE2-8415-9162-2C21-34ABF4103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AB8ACE0-9E74-8417-E8ED-E0FD213A8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2DB5E5-5EAB-07A1-CEF3-96202FDD5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FD38-94A1-469D-A5E6-02BE9E58D2E4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0CBCD2-AB7F-FE75-04EB-E236E3013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75FBE6-07F1-0D4D-6AD2-ED7BD728B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611F-1F7A-49D5-ACFD-66616E09C5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6871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B73F9E-155F-09DC-986F-C371059AA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8AC34F8-348B-6746-E21A-A87C8E7E25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73215CF-4EE9-7686-44EA-329C2C9744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E1D40B3-30D1-1D88-3059-071F4F7AA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FD38-94A1-469D-A5E6-02BE9E58D2E4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724D1AB-0E70-F22B-5F6E-F3C2662D0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742ACB2-857B-14D4-5D35-A18D5156D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611F-1F7A-49D5-ACFD-66616E09C5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2439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2B1778-486E-5E7B-0477-136F0AE21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CAF9E2F-07CF-64D0-33BF-90010CAA4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4F617C7-C423-F52A-7F06-421353EF17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8DE9A4D-7447-8866-8C45-245F4AC825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31DBC5F-7E87-4B22-6E80-899621B091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F9A4427-B61E-09A6-25F1-80DEBDF41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FD38-94A1-469D-A5E6-02BE9E58D2E4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2DABF5F-232D-946D-FA73-F3F8F2E31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4E0AB5B-0EE5-5F6D-B8BD-C8EB3B53B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611F-1F7A-49D5-ACFD-66616E09C5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4093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E0BFC4-6088-3E12-E220-BF18BB96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A71DD54-FF0B-E4C9-BA64-292F5090E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FD38-94A1-469D-A5E6-02BE9E58D2E4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794A8E8-A7D5-FB9B-D5E5-2AAB9CAA8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82345DF-48FD-CC93-9DF7-21D344A4D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611F-1F7A-49D5-ACFD-66616E09C5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545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2C672FC-EB19-B6BB-F77D-1345A7BD7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FD38-94A1-469D-A5E6-02BE9E58D2E4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3AB7EF4-E3C4-A1BA-F259-A80AF578C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9B3D7A6-D697-634C-236A-17C8BF03D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611F-1F7A-49D5-ACFD-66616E09C5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6261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F72D6B-D563-916C-586C-AD1D7E832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5DB9E67-6DCA-04EC-779B-04B93E07F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BC329D0-1EB7-D702-1055-95C3688110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1BAF9C2-99E8-F25E-70E3-36948B7E2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FD38-94A1-469D-A5E6-02BE9E58D2E4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F5A4C84-3333-04F7-B28E-4D4C2FFAA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4BC6EF8-167B-C08B-2AD7-0D2F7E80F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611F-1F7A-49D5-ACFD-66616E09C5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9215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3DCDF3-9AC3-752D-B49F-5328BAC8C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C343D97-D820-0171-EC4A-F48DA3F038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BC7FFEA-F087-0363-4464-EE1228509D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1738564-4438-DCB7-2E79-D1A6C7C8B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FD38-94A1-469D-A5E6-02BE9E58D2E4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572FB5D-358A-04D8-169C-750ECB316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57259AC-F31E-7C7F-A542-F002FF887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611F-1F7A-49D5-ACFD-66616E09C5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2900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2CEC1B-936A-A760-8A79-11DD01F01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E38C405-7938-73DC-CE5E-0490BB36E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25FBFA-BC88-18D4-DFD5-C38BE6FE3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FD38-94A1-469D-A5E6-02BE9E58D2E4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A5F4E90-FE78-1884-75ED-6427C5172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C7E95FA-9F09-F78D-6E4D-7EB87857D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611F-1F7A-49D5-ACFD-66616E09C5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4855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B605246-E268-A01B-8DF5-FF5C2BB577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C4FAFA2-4B64-D416-6B8C-9DAEB50ACA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B3FFE5-8BA0-DDB7-5F62-6468EA513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FD38-94A1-469D-A5E6-02BE9E58D2E4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7CED13-5AFB-D09E-532E-CCB91DCAE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69DCE7-6662-BE0C-C33F-FA4DADE52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611F-1F7A-49D5-ACFD-66616E09C5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5460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67B0521-AA8F-54FE-771A-84C46424C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4B26177-6BFF-D5AC-4EA7-34F4C0DA6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5164F6-2011-85B4-2DAB-DF581AE81A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BBFD38-94A1-469D-A5E6-02BE9E58D2E4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1452EFE-EF4D-23B2-3AA2-7B1BFB43F8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FAE020-AA97-6940-2E32-0B7197AF56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82611F-1F7A-49D5-ACFD-66616E09C5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1369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Excel_Worksheet.xlsx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86A6FB-580B-1F95-048A-0ABFDDF263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チーム開発課題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DA14F05-593E-3A38-373E-DB42350C84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チーム</a:t>
            </a:r>
            <a:r>
              <a:rPr kumimoji="1" lang="en-US" altLang="ja-JP" dirty="0"/>
              <a:t>1</a:t>
            </a:r>
            <a:r>
              <a:rPr kumimoji="1" lang="ja-JP" altLang="en-US" dirty="0"/>
              <a:t>発表</a:t>
            </a:r>
          </a:p>
        </p:txBody>
      </p:sp>
    </p:spTree>
    <p:extLst>
      <p:ext uri="{BB962C8B-B14F-4D97-AF65-F5344CB8AC3E}">
        <p14:creationId xmlns:p14="http://schemas.microsoft.com/office/powerpoint/2010/main" val="7526599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35"/>
    </mc:Choice>
    <mc:Fallback>
      <p:transition spd="slow" advTm="193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72D4E-28D0-67BA-0CC3-3AC697E36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F1C593-97F4-C199-F437-7463CFB37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61" y="365125"/>
            <a:ext cx="10515600" cy="1325563"/>
          </a:xfrm>
        </p:spPr>
        <p:txBody>
          <a:bodyPr>
            <a:normAutofit/>
          </a:bodyPr>
          <a:lstStyle/>
          <a:p>
            <a:r>
              <a:rPr lang="ja-JP" altLang="en-US" sz="3600" dirty="0"/>
              <a:t>画面詳細設計</a:t>
            </a:r>
            <a:br>
              <a:rPr lang="en-US" altLang="ja-JP" sz="3600" dirty="0"/>
            </a:br>
            <a:r>
              <a:rPr lang="en-US" altLang="ja-JP" sz="3600" dirty="0"/>
              <a:t>(DB</a:t>
            </a:r>
            <a:r>
              <a:rPr lang="ja-JP" altLang="en-US" sz="3600" dirty="0"/>
              <a:t>構成</a:t>
            </a:r>
            <a:r>
              <a:rPr lang="en-US" altLang="ja-JP" sz="3600" dirty="0"/>
              <a:t>)</a:t>
            </a:r>
            <a:endParaRPr kumimoji="1" lang="ja-JP" altLang="en-US" sz="3600" dirty="0"/>
          </a:p>
        </p:txBody>
      </p:sp>
      <p:pic>
        <p:nvPicPr>
          <p:cNvPr id="7" name="コンテンツ プレースホルダー 6">
            <a:extLst>
              <a:ext uri="{FF2B5EF4-FFF2-40B4-BE49-F238E27FC236}">
                <a16:creationId xmlns:a16="http://schemas.microsoft.com/office/drawing/2014/main" id="{C3614A46-7FCB-2B35-3EC7-F758A3D33D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2461" y="1812525"/>
            <a:ext cx="8556578" cy="253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3214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95"/>
    </mc:Choice>
    <mc:Fallback>
      <p:transition spd="slow" advTm="179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47C133-A208-D222-D9C5-FA9CA1C2B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61" y="365125"/>
            <a:ext cx="10515600" cy="1325563"/>
          </a:xfrm>
        </p:spPr>
        <p:txBody>
          <a:bodyPr>
            <a:normAutofit/>
          </a:bodyPr>
          <a:lstStyle/>
          <a:p>
            <a:r>
              <a:rPr lang="ja-JP" altLang="en-US" sz="3600" dirty="0"/>
              <a:t>画面詳細設計</a:t>
            </a:r>
            <a:br>
              <a:rPr lang="en-US" altLang="ja-JP" sz="3600" dirty="0"/>
            </a:br>
            <a:r>
              <a:rPr lang="en-US" altLang="ja-JP" sz="3600" dirty="0"/>
              <a:t>(</a:t>
            </a:r>
            <a:r>
              <a:rPr lang="ja-JP" altLang="en-US" sz="3600" dirty="0"/>
              <a:t>メイン画面</a:t>
            </a:r>
            <a:r>
              <a:rPr lang="en-US" altLang="ja-JP" sz="3600" dirty="0"/>
              <a:t>)</a:t>
            </a:r>
            <a:endParaRPr kumimoji="1" lang="ja-JP" altLang="en-US" sz="3600" dirty="0"/>
          </a:p>
        </p:txBody>
      </p:sp>
      <p:pic>
        <p:nvPicPr>
          <p:cNvPr id="19" name="コンテンツ プレースホルダー 18">
            <a:extLst>
              <a:ext uri="{FF2B5EF4-FFF2-40B4-BE49-F238E27FC236}">
                <a16:creationId xmlns:a16="http://schemas.microsoft.com/office/drawing/2014/main" id="{ECB639B4-5053-E016-815A-FBC082645F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5732" y="150312"/>
            <a:ext cx="8089898" cy="4754938"/>
          </a:xfrm>
          <a:prstGeom prst="rect">
            <a:avLst/>
          </a:prstGeom>
        </p:spPr>
      </p:pic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DAD0318D-F84C-E70F-CB00-9629876205BC}"/>
              </a:ext>
            </a:extLst>
          </p:cNvPr>
          <p:cNvGrpSpPr/>
          <p:nvPr/>
        </p:nvGrpSpPr>
        <p:grpSpPr>
          <a:xfrm>
            <a:off x="3502200" y="6248661"/>
            <a:ext cx="7213817" cy="1072989"/>
            <a:chOff x="266505" y="6248661"/>
            <a:chExt cx="11603016" cy="1072989"/>
          </a:xfrm>
        </p:grpSpPr>
        <p:pic>
          <p:nvPicPr>
            <p:cNvPr id="25" name="図 24">
              <a:extLst>
                <a:ext uri="{FF2B5EF4-FFF2-40B4-BE49-F238E27FC236}">
                  <a16:creationId xmlns:a16="http://schemas.microsoft.com/office/drawing/2014/main" id="{C15306C1-9D8D-3FAB-F0F3-213048915A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6505" y="6248661"/>
              <a:ext cx="1877731" cy="1072989"/>
            </a:xfrm>
            <a:prstGeom prst="rect">
              <a:avLst/>
            </a:prstGeom>
          </p:spPr>
        </p:pic>
        <p:pic>
          <p:nvPicPr>
            <p:cNvPr id="26" name="図 25">
              <a:extLst>
                <a:ext uri="{FF2B5EF4-FFF2-40B4-BE49-F238E27FC236}">
                  <a16:creationId xmlns:a16="http://schemas.microsoft.com/office/drawing/2014/main" id="{CA332AB1-98AE-5A08-F132-FFFDF3DE06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93847" y="6248661"/>
              <a:ext cx="1877731" cy="1072989"/>
            </a:xfrm>
            <a:prstGeom prst="rect">
              <a:avLst/>
            </a:prstGeom>
          </p:spPr>
        </p:pic>
        <p:pic>
          <p:nvPicPr>
            <p:cNvPr id="27" name="図 26">
              <a:extLst>
                <a:ext uri="{FF2B5EF4-FFF2-40B4-BE49-F238E27FC236}">
                  <a16:creationId xmlns:a16="http://schemas.microsoft.com/office/drawing/2014/main" id="{C0062900-8AD7-1B66-12FA-2530E9B20A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21189" y="6248661"/>
              <a:ext cx="1877731" cy="1072989"/>
            </a:xfrm>
            <a:prstGeom prst="rect">
              <a:avLst/>
            </a:prstGeom>
          </p:spPr>
        </p:pic>
        <p:pic>
          <p:nvPicPr>
            <p:cNvPr id="28" name="図 27">
              <a:extLst>
                <a:ext uri="{FF2B5EF4-FFF2-40B4-BE49-F238E27FC236}">
                  <a16:creationId xmlns:a16="http://schemas.microsoft.com/office/drawing/2014/main" id="{5E4907EE-7EFA-557D-553F-512E182CEC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48531" y="6248661"/>
              <a:ext cx="1877731" cy="1072989"/>
            </a:xfrm>
            <a:prstGeom prst="rect">
              <a:avLst/>
            </a:prstGeom>
          </p:spPr>
        </p:pic>
        <p:pic>
          <p:nvPicPr>
            <p:cNvPr id="29" name="図 28">
              <a:extLst>
                <a:ext uri="{FF2B5EF4-FFF2-40B4-BE49-F238E27FC236}">
                  <a16:creationId xmlns:a16="http://schemas.microsoft.com/office/drawing/2014/main" id="{9634DBD8-2DD6-68F0-9E59-D5A89D81CB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88009" y="6248661"/>
              <a:ext cx="1877731" cy="1072989"/>
            </a:xfrm>
            <a:prstGeom prst="rect">
              <a:avLst/>
            </a:prstGeom>
          </p:spPr>
        </p:pic>
        <p:pic>
          <p:nvPicPr>
            <p:cNvPr id="30" name="図 29">
              <a:extLst>
                <a:ext uri="{FF2B5EF4-FFF2-40B4-BE49-F238E27FC236}">
                  <a16:creationId xmlns:a16="http://schemas.microsoft.com/office/drawing/2014/main" id="{FFF363B0-6275-4E60-AA67-8AB70F81AD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81295" y="6248661"/>
              <a:ext cx="1877731" cy="1072989"/>
            </a:xfrm>
            <a:prstGeom prst="rect">
              <a:avLst/>
            </a:prstGeom>
          </p:spPr>
        </p:pic>
        <p:pic>
          <p:nvPicPr>
            <p:cNvPr id="31" name="図 30">
              <a:extLst>
                <a:ext uri="{FF2B5EF4-FFF2-40B4-BE49-F238E27FC236}">
                  <a16:creationId xmlns:a16="http://schemas.microsoft.com/office/drawing/2014/main" id="{84FD1859-293B-07AE-36E9-6BF1E0EB04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81696" y="6248661"/>
              <a:ext cx="1877731" cy="1072989"/>
            </a:xfrm>
            <a:prstGeom prst="rect">
              <a:avLst/>
            </a:prstGeom>
          </p:spPr>
        </p:pic>
        <p:pic>
          <p:nvPicPr>
            <p:cNvPr id="32" name="図 31">
              <a:extLst>
                <a:ext uri="{FF2B5EF4-FFF2-40B4-BE49-F238E27FC236}">
                  <a16:creationId xmlns:a16="http://schemas.microsoft.com/office/drawing/2014/main" id="{3B4DFEA1-AB3A-2841-507A-7419767E6E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14059" y="6248661"/>
              <a:ext cx="1877731" cy="1072989"/>
            </a:xfrm>
            <a:prstGeom prst="rect">
              <a:avLst/>
            </a:prstGeom>
          </p:spPr>
        </p:pic>
        <p:pic>
          <p:nvPicPr>
            <p:cNvPr id="33" name="図 32">
              <a:extLst>
                <a:ext uri="{FF2B5EF4-FFF2-40B4-BE49-F238E27FC236}">
                  <a16:creationId xmlns:a16="http://schemas.microsoft.com/office/drawing/2014/main" id="{31C1C8FA-3205-5C3C-B86A-2D3EEABEC3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20330" y="6248661"/>
              <a:ext cx="1877731" cy="1072989"/>
            </a:xfrm>
            <a:prstGeom prst="rect">
              <a:avLst/>
            </a:prstGeom>
          </p:spPr>
        </p:pic>
        <p:pic>
          <p:nvPicPr>
            <p:cNvPr id="34" name="図 33">
              <a:extLst>
                <a:ext uri="{FF2B5EF4-FFF2-40B4-BE49-F238E27FC236}">
                  <a16:creationId xmlns:a16="http://schemas.microsoft.com/office/drawing/2014/main" id="{764310F4-0E6F-249B-8AB3-A1C957B3E5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91790" y="6248661"/>
              <a:ext cx="1877731" cy="1072989"/>
            </a:xfrm>
            <a:prstGeom prst="rect">
              <a:avLst/>
            </a:prstGeom>
          </p:spPr>
        </p:pic>
      </p:grpSp>
      <p:pic>
        <p:nvPicPr>
          <p:cNvPr id="38" name="図 37">
            <a:extLst>
              <a:ext uri="{FF2B5EF4-FFF2-40B4-BE49-F238E27FC236}">
                <a16:creationId xmlns:a16="http://schemas.microsoft.com/office/drawing/2014/main" id="{7EB4A94A-6C5E-59A0-18F9-69364164BE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8455" y="4950975"/>
            <a:ext cx="6638794" cy="170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777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DE009-D55C-2261-7DFA-0BD00DE9C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67ADF1-711E-D9C7-541E-A6362D2BF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61" y="365125"/>
            <a:ext cx="10515600" cy="1325563"/>
          </a:xfrm>
        </p:spPr>
        <p:txBody>
          <a:bodyPr>
            <a:normAutofit/>
          </a:bodyPr>
          <a:lstStyle/>
          <a:p>
            <a:r>
              <a:rPr lang="ja-JP" altLang="en-US" sz="3600" dirty="0"/>
              <a:t>画面詳細設計</a:t>
            </a:r>
            <a:br>
              <a:rPr lang="en-US" altLang="ja-JP" sz="3600" dirty="0"/>
            </a:br>
            <a:r>
              <a:rPr lang="en-US" altLang="ja-JP" sz="3600" dirty="0"/>
              <a:t>(</a:t>
            </a:r>
            <a:r>
              <a:rPr lang="ja-JP" altLang="en-US" sz="3600" dirty="0"/>
              <a:t>タスク新規作成画面</a:t>
            </a:r>
            <a:r>
              <a:rPr lang="en-US" altLang="ja-JP" sz="3600" dirty="0"/>
              <a:t>)</a:t>
            </a:r>
            <a:endParaRPr kumimoji="1" lang="ja-JP" altLang="en-US" sz="3600" dirty="0"/>
          </a:p>
        </p:txBody>
      </p:sp>
      <p:pic>
        <p:nvPicPr>
          <p:cNvPr id="10" name="コンテンツ プレースホルダー 9">
            <a:extLst>
              <a:ext uri="{FF2B5EF4-FFF2-40B4-BE49-F238E27FC236}">
                <a16:creationId xmlns:a16="http://schemas.microsoft.com/office/drawing/2014/main" id="{C1F8D178-1FDF-D734-FE14-CD5B17B10D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5674" y="1492054"/>
            <a:ext cx="8819367" cy="2708533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57970F9-4C3D-5046-BB17-B9E6D3961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674" y="4587603"/>
            <a:ext cx="10966536" cy="1821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78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98864-5E5A-E45F-F3B9-8B0BD153C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D107E5-4D24-3784-8721-FA8EEFADA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61" y="365125"/>
            <a:ext cx="10515600" cy="1325563"/>
          </a:xfrm>
        </p:spPr>
        <p:txBody>
          <a:bodyPr>
            <a:normAutofit/>
          </a:bodyPr>
          <a:lstStyle/>
          <a:p>
            <a:r>
              <a:rPr lang="ja-JP" altLang="en-US" sz="3600" dirty="0"/>
              <a:t>画面詳細設計</a:t>
            </a:r>
            <a:br>
              <a:rPr lang="en-US" altLang="ja-JP" sz="3600" dirty="0"/>
            </a:br>
            <a:r>
              <a:rPr lang="en-US" altLang="ja-JP" sz="3600" dirty="0"/>
              <a:t>(</a:t>
            </a:r>
            <a:r>
              <a:rPr lang="ja-JP" altLang="en-US" sz="3600" dirty="0"/>
              <a:t>タスク編集画面</a:t>
            </a:r>
            <a:r>
              <a:rPr lang="en-US" altLang="ja-JP" sz="3600" dirty="0"/>
              <a:t>)</a:t>
            </a:r>
            <a:endParaRPr kumimoji="1" lang="ja-JP" altLang="en-US" sz="3600" dirty="0"/>
          </a:p>
        </p:txBody>
      </p:sp>
      <p:pic>
        <p:nvPicPr>
          <p:cNvPr id="8" name="コンテンツ プレースホルダー 7">
            <a:extLst>
              <a:ext uri="{FF2B5EF4-FFF2-40B4-BE49-F238E27FC236}">
                <a16:creationId xmlns:a16="http://schemas.microsoft.com/office/drawing/2014/main" id="{B7E97967-816A-FB6F-5C0F-1F013D8387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88726"/>
            <a:ext cx="9370512" cy="2814132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87B65C81-608E-6105-49C8-16ADA8324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772418"/>
            <a:ext cx="11205575" cy="148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205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6F54F-C61D-B47D-8149-6BA4B24C9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6CBE5B-3BA1-24D2-55A9-48137FC05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61" y="365125"/>
            <a:ext cx="10515600" cy="1325563"/>
          </a:xfrm>
        </p:spPr>
        <p:txBody>
          <a:bodyPr>
            <a:normAutofit/>
          </a:bodyPr>
          <a:lstStyle/>
          <a:p>
            <a:r>
              <a:rPr lang="ja-JP" altLang="en-US" sz="3600" dirty="0"/>
              <a:t>画面詳細設計</a:t>
            </a:r>
            <a:br>
              <a:rPr lang="en-US" altLang="ja-JP" sz="3600" dirty="0"/>
            </a:br>
            <a:r>
              <a:rPr lang="en-US" altLang="ja-JP" sz="3600" dirty="0"/>
              <a:t>(</a:t>
            </a:r>
            <a:r>
              <a:rPr lang="ja-JP" altLang="en-US" sz="3600" dirty="0"/>
              <a:t>ファイル構成</a:t>
            </a:r>
            <a:r>
              <a:rPr lang="en-US" altLang="ja-JP" sz="3600" dirty="0"/>
              <a:t>, </a:t>
            </a:r>
            <a:r>
              <a:rPr lang="ja-JP" altLang="en-US" sz="3600" dirty="0"/>
              <a:t>担当分け</a:t>
            </a:r>
            <a:r>
              <a:rPr lang="en-US" altLang="ja-JP" sz="3600" dirty="0"/>
              <a:t>)</a:t>
            </a:r>
            <a:endParaRPr kumimoji="1" lang="ja-JP" altLang="en-US" sz="3600" dirty="0"/>
          </a:p>
        </p:txBody>
      </p:sp>
      <p:pic>
        <p:nvPicPr>
          <p:cNvPr id="7" name="コンテンツ プレースホルダー 6">
            <a:extLst>
              <a:ext uri="{FF2B5EF4-FFF2-40B4-BE49-F238E27FC236}">
                <a16:creationId xmlns:a16="http://schemas.microsoft.com/office/drawing/2014/main" id="{C767D054-4BF0-CF7F-EA86-5C099D7EDC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5505" y="1790897"/>
            <a:ext cx="6396771" cy="4146441"/>
          </a:xfrm>
          <a:prstGeom prst="rect">
            <a:avLst/>
          </a:prstGeom>
        </p:spPr>
      </p:pic>
      <p:sp>
        <p:nvSpPr>
          <p:cNvPr id="4" name="右大かっこ 3">
            <a:extLst>
              <a:ext uri="{FF2B5EF4-FFF2-40B4-BE49-F238E27FC236}">
                <a16:creationId xmlns:a16="http://schemas.microsoft.com/office/drawing/2014/main" id="{AA973D25-3144-0FA0-C5BB-A2B695E4D253}"/>
              </a:ext>
            </a:extLst>
          </p:cNvPr>
          <p:cNvSpPr/>
          <p:nvPr/>
        </p:nvSpPr>
        <p:spPr>
          <a:xfrm>
            <a:off x="7329348" y="2604419"/>
            <a:ext cx="422030" cy="1259698"/>
          </a:xfrm>
          <a:prstGeom prst="rightBracket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A800C6A-D904-000B-8E78-10707157D173}"/>
              </a:ext>
            </a:extLst>
          </p:cNvPr>
          <p:cNvSpPr txBox="1"/>
          <p:nvPr/>
        </p:nvSpPr>
        <p:spPr>
          <a:xfrm>
            <a:off x="7820358" y="2941427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フロントエンド</a:t>
            </a:r>
          </a:p>
        </p:txBody>
      </p:sp>
      <p:sp>
        <p:nvSpPr>
          <p:cNvPr id="6" name="右大かっこ 5">
            <a:extLst>
              <a:ext uri="{FF2B5EF4-FFF2-40B4-BE49-F238E27FC236}">
                <a16:creationId xmlns:a16="http://schemas.microsoft.com/office/drawing/2014/main" id="{4397DFD9-5B0F-F14C-8DC1-C033FDEF35D1}"/>
              </a:ext>
            </a:extLst>
          </p:cNvPr>
          <p:cNvSpPr/>
          <p:nvPr/>
        </p:nvSpPr>
        <p:spPr>
          <a:xfrm>
            <a:off x="7329348" y="4087921"/>
            <a:ext cx="422030" cy="369332"/>
          </a:xfrm>
          <a:prstGeom prst="rightBracket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BE4ED62-8B3D-31F7-162F-4A40C74D9373}"/>
              </a:ext>
            </a:extLst>
          </p:cNvPr>
          <p:cNvSpPr txBox="1"/>
          <p:nvPr/>
        </p:nvSpPr>
        <p:spPr>
          <a:xfrm>
            <a:off x="7820358" y="410745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データ定義</a:t>
            </a:r>
          </a:p>
        </p:txBody>
      </p:sp>
      <p:sp>
        <p:nvSpPr>
          <p:cNvPr id="9" name="右大かっこ 8">
            <a:extLst>
              <a:ext uri="{FF2B5EF4-FFF2-40B4-BE49-F238E27FC236}">
                <a16:creationId xmlns:a16="http://schemas.microsoft.com/office/drawing/2014/main" id="{502B1C0F-8E1E-5B9A-1D69-523C84548F12}"/>
              </a:ext>
            </a:extLst>
          </p:cNvPr>
          <p:cNvSpPr/>
          <p:nvPr/>
        </p:nvSpPr>
        <p:spPr>
          <a:xfrm>
            <a:off x="7329348" y="4660815"/>
            <a:ext cx="422030" cy="369332"/>
          </a:xfrm>
          <a:prstGeom prst="rightBracket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823DCFF-49A8-8139-D7ED-94111EB0E76E}"/>
              </a:ext>
            </a:extLst>
          </p:cNvPr>
          <p:cNvSpPr txBox="1"/>
          <p:nvPr/>
        </p:nvSpPr>
        <p:spPr>
          <a:xfrm>
            <a:off x="7820358" y="4680351"/>
            <a:ext cx="4204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SQL</a:t>
            </a:r>
            <a:r>
              <a:rPr kumimoji="1" lang="ja-JP" altLang="en-US" dirty="0"/>
              <a:t>クエリ</a:t>
            </a:r>
            <a:r>
              <a:rPr kumimoji="1" lang="en-US" altLang="ja-JP" dirty="0"/>
              <a:t>, Dapper</a:t>
            </a:r>
            <a:r>
              <a:rPr lang="en-US" altLang="ja-JP" dirty="0"/>
              <a:t>,</a:t>
            </a:r>
            <a:r>
              <a:rPr lang="ja-JP" altLang="en-US" dirty="0"/>
              <a:t> </a:t>
            </a:r>
            <a:r>
              <a:rPr kumimoji="1" lang="ja-JP" altLang="en-US" dirty="0"/>
              <a:t>インターフェース</a:t>
            </a:r>
          </a:p>
        </p:txBody>
      </p:sp>
    </p:spTree>
    <p:extLst>
      <p:ext uri="{BB962C8B-B14F-4D97-AF65-F5344CB8AC3E}">
        <p14:creationId xmlns:p14="http://schemas.microsoft.com/office/powerpoint/2010/main" val="453739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4576-BC1A-32CB-873E-23371484C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719D344-3E16-E00A-5962-336C4602C4BB}"/>
              </a:ext>
            </a:extLst>
          </p:cNvPr>
          <p:cNvSpPr/>
          <p:nvPr/>
        </p:nvSpPr>
        <p:spPr>
          <a:xfrm>
            <a:off x="688932" y="1982151"/>
            <a:ext cx="4916465" cy="3316359"/>
          </a:xfrm>
          <a:prstGeom prst="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D9A46BB-3BC3-58D4-0864-FE0B3039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61" y="365125"/>
            <a:ext cx="10515600" cy="1325563"/>
          </a:xfrm>
        </p:spPr>
        <p:txBody>
          <a:bodyPr>
            <a:normAutofit/>
          </a:bodyPr>
          <a:lstStyle/>
          <a:p>
            <a:r>
              <a:rPr lang="ja-JP" altLang="en-US" sz="3600" dirty="0"/>
              <a:t>完成した</a:t>
            </a:r>
            <a:r>
              <a:rPr kumimoji="1" lang="ja-JP" altLang="en-US" sz="3600" dirty="0"/>
              <a:t>画面</a:t>
            </a:r>
            <a:br>
              <a:rPr kumimoji="1" lang="en-US" altLang="ja-JP" sz="3600" dirty="0"/>
            </a:br>
            <a:r>
              <a:rPr kumimoji="1" lang="en-US" altLang="ja-JP" sz="3600" dirty="0"/>
              <a:t>(</a:t>
            </a:r>
            <a:r>
              <a:rPr kumimoji="1" lang="ja-JP" altLang="en-US" sz="3600" dirty="0"/>
              <a:t>メイン画面</a:t>
            </a:r>
            <a:r>
              <a:rPr kumimoji="1" lang="en-US" altLang="ja-JP" sz="3600" dirty="0"/>
              <a:t>)</a:t>
            </a:r>
            <a:endParaRPr kumimoji="1" lang="ja-JP" altLang="en-US" sz="3600" dirty="0"/>
          </a:p>
        </p:txBody>
      </p:sp>
      <p:pic>
        <p:nvPicPr>
          <p:cNvPr id="6" name="コンテンツ プレースホルダー 5">
            <a:extLst>
              <a:ext uri="{FF2B5EF4-FFF2-40B4-BE49-F238E27FC236}">
                <a16:creationId xmlns:a16="http://schemas.microsoft.com/office/drawing/2014/main" id="{3DEB6B42-B718-D973-DBC3-B76192DC9D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5024" y="2289178"/>
            <a:ext cx="4433799" cy="2829914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F8AF76C-BB8D-457E-BAB1-F0F7571EF375}"/>
              </a:ext>
            </a:extLst>
          </p:cNvPr>
          <p:cNvSpPr txBox="1"/>
          <p:nvPr/>
        </p:nvSpPr>
        <p:spPr>
          <a:xfrm>
            <a:off x="827133" y="1797485"/>
            <a:ext cx="180049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タスクがない時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430D1C1-841E-58D3-A1EC-60AD8522209F}"/>
              </a:ext>
            </a:extLst>
          </p:cNvPr>
          <p:cNvSpPr/>
          <p:nvPr/>
        </p:nvSpPr>
        <p:spPr>
          <a:xfrm>
            <a:off x="6037546" y="1982151"/>
            <a:ext cx="4916465" cy="4105498"/>
          </a:xfrm>
          <a:prstGeom prst="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AAAB778-7E50-AC2D-42D7-806F3B89E95B}"/>
              </a:ext>
            </a:extLst>
          </p:cNvPr>
          <p:cNvSpPr txBox="1"/>
          <p:nvPr/>
        </p:nvSpPr>
        <p:spPr>
          <a:xfrm>
            <a:off x="6175747" y="1797485"/>
            <a:ext cx="156966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タスク追加時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E09CC7C-9DCB-435D-A314-791197987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045" y="2289178"/>
            <a:ext cx="4373466" cy="3722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791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BEABB-88F8-6973-6302-ECEBF81A7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D42F394-7353-58FD-F233-0F205BEDA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112" y="1741795"/>
            <a:ext cx="5528831" cy="4705718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52B4B4EF-D056-9FAC-02D4-A6E97A137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61" y="365125"/>
            <a:ext cx="10515600" cy="1325563"/>
          </a:xfrm>
        </p:spPr>
        <p:txBody>
          <a:bodyPr>
            <a:normAutofit/>
          </a:bodyPr>
          <a:lstStyle/>
          <a:p>
            <a:r>
              <a:rPr lang="ja-JP" altLang="en-US" sz="3600" dirty="0"/>
              <a:t>完成した</a:t>
            </a:r>
            <a:r>
              <a:rPr kumimoji="1" lang="ja-JP" altLang="en-US" sz="3600" dirty="0"/>
              <a:t>画面</a:t>
            </a:r>
            <a:br>
              <a:rPr kumimoji="1" lang="en-US" altLang="ja-JP" sz="3600" dirty="0"/>
            </a:br>
            <a:r>
              <a:rPr kumimoji="1" lang="en-US" altLang="ja-JP" sz="3600" dirty="0"/>
              <a:t>(</a:t>
            </a:r>
            <a:r>
              <a:rPr kumimoji="1" lang="ja-JP" altLang="en-US" sz="3600" dirty="0"/>
              <a:t>メイン画面詳細</a:t>
            </a:r>
            <a:r>
              <a:rPr kumimoji="1" lang="en-US" altLang="ja-JP" sz="3600" dirty="0"/>
              <a:t>)</a:t>
            </a:r>
            <a:endParaRPr kumimoji="1" lang="ja-JP" altLang="en-US" sz="3600" dirty="0"/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239B07EB-57A0-C45F-E931-74181CE8DF7E}"/>
              </a:ext>
            </a:extLst>
          </p:cNvPr>
          <p:cNvGrpSpPr/>
          <p:nvPr/>
        </p:nvGrpSpPr>
        <p:grpSpPr>
          <a:xfrm>
            <a:off x="239618" y="2373094"/>
            <a:ext cx="6744668" cy="4177265"/>
            <a:chOff x="4741767" y="1816460"/>
            <a:chExt cx="7076949" cy="4383061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6B6571F2-D33D-F5D5-E919-7ADF56F50340}"/>
                </a:ext>
              </a:extLst>
            </p:cNvPr>
            <p:cNvSpPr/>
            <p:nvPr/>
          </p:nvSpPr>
          <p:spPr>
            <a:xfrm>
              <a:off x="5401310" y="1897693"/>
              <a:ext cx="5832606" cy="579491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C9C7850D-A665-FA50-09B7-317B55CD6083}"/>
                </a:ext>
              </a:extLst>
            </p:cNvPr>
            <p:cNvSpPr txBox="1"/>
            <p:nvPr/>
          </p:nvSpPr>
          <p:spPr>
            <a:xfrm>
              <a:off x="4741767" y="1816460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 dirty="0">
                  <a:solidFill>
                    <a:srgbClr val="FF0000"/>
                  </a:solidFill>
                </a:rPr>
                <a:t>①</a:t>
              </a: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91288BEF-04FD-3C46-E622-C2120524147C}"/>
                </a:ext>
              </a:extLst>
            </p:cNvPr>
            <p:cNvSpPr/>
            <p:nvPr/>
          </p:nvSpPr>
          <p:spPr>
            <a:xfrm>
              <a:off x="5401310" y="2896839"/>
              <a:ext cx="4920137" cy="3302682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2B6FA2AA-7A35-CA15-7C2E-F7533157AF09}"/>
                </a:ext>
              </a:extLst>
            </p:cNvPr>
            <p:cNvSpPr/>
            <p:nvPr/>
          </p:nvSpPr>
          <p:spPr>
            <a:xfrm>
              <a:off x="5413572" y="2585096"/>
              <a:ext cx="1278247" cy="258117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84413C2D-96FA-F8EA-53C5-F66C3C28BB48}"/>
                </a:ext>
              </a:extLst>
            </p:cNvPr>
            <p:cNvSpPr txBox="1"/>
            <p:nvPr/>
          </p:nvSpPr>
          <p:spPr>
            <a:xfrm>
              <a:off x="4757006" y="2508859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 dirty="0">
                  <a:solidFill>
                    <a:srgbClr val="FF0000"/>
                  </a:solidFill>
                </a:rPr>
                <a:t>②</a:t>
              </a:r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BE26024D-110A-2157-2898-2CBE328C4046}"/>
                </a:ext>
              </a:extLst>
            </p:cNvPr>
            <p:cNvSpPr/>
            <p:nvPr/>
          </p:nvSpPr>
          <p:spPr>
            <a:xfrm>
              <a:off x="10463214" y="2585095"/>
              <a:ext cx="770701" cy="258117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2F477F77-1760-CCFF-9461-667812677FB4}"/>
                </a:ext>
              </a:extLst>
            </p:cNvPr>
            <p:cNvSpPr txBox="1"/>
            <p:nvPr/>
          </p:nvSpPr>
          <p:spPr>
            <a:xfrm>
              <a:off x="11346917" y="2508859"/>
              <a:ext cx="4717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 b="1" dirty="0">
                  <a:solidFill>
                    <a:srgbClr val="FF0000"/>
                  </a:solidFill>
                </a:rPr>
                <a:t>③</a:t>
              </a:r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4979C189-FA62-C499-E897-13AFEC4DD740}"/>
                </a:ext>
              </a:extLst>
            </p:cNvPr>
            <p:cNvSpPr txBox="1"/>
            <p:nvPr/>
          </p:nvSpPr>
          <p:spPr>
            <a:xfrm>
              <a:off x="4741767" y="3283881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 dirty="0">
                  <a:solidFill>
                    <a:srgbClr val="FF0000"/>
                  </a:solidFill>
                </a:rPr>
                <a:t>④</a:t>
              </a:r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BD6332BB-5059-83C8-C03C-606D53852E4D}"/>
                </a:ext>
              </a:extLst>
            </p:cNvPr>
            <p:cNvSpPr/>
            <p:nvPr/>
          </p:nvSpPr>
          <p:spPr>
            <a:xfrm>
              <a:off x="10415317" y="2896839"/>
              <a:ext cx="584803" cy="3302682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C4C10021-115C-ABA6-7331-B0C6F978E5E2}"/>
                </a:ext>
              </a:extLst>
            </p:cNvPr>
            <p:cNvSpPr txBox="1"/>
            <p:nvPr/>
          </p:nvSpPr>
          <p:spPr>
            <a:xfrm>
              <a:off x="11241972" y="3885608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 dirty="0">
                  <a:solidFill>
                    <a:srgbClr val="FF0000"/>
                  </a:solidFill>
                </a:rPr>
                <a:t>⑤</a:t>
              </a:r>
            </a:p>
          </p:txBody>
        </p:sp>
      </p:grpSp>
      <p:graphicFrame>
        <p:nvGraphicFramePr>
          <p:cNvPr id="13" name="オブジェクト 12">
            <a:extLst>
              <a:ext uri="{FF2B5EF4-FFF2-40B4-BE49-F238E27FC236}">
                <a16:creationId xmlns:a16="http://schemas.microsoft.com/office/drawing/2014/main" id="{5DFF3CD5-8D68-6464-45A0-2578E7F200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0182082"/>
              </p:ext>
            </p:extLst>
          </p:nvPr>
        </p:nvGraphicFramePr>
        <p:xfrm>
          <a:off x="7073750" y="2450513"/>
          <a:ext cx="4668616" cy="38007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4389120" imgH="3573693" progId="Excel.Sheet.12">
                  <p:embed/>
                </p:oleObj>
              </mc:Choice>
              <mc:Fallback>
                <p:oleObj name="Worksheet" r:id="rId4" imgW="4389120" imgH="3573693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073750" y="2450513"/>
                        <a:ext cx="4668616" cy="38007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44555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FE587-4BCD-0E5A-8585-8F819F9C8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11AA29A4-C260-78F4-C828-77BEFF0BA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814" y="1493791"/>
            <a:ext cx="4905730" cy="5364209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A4EA9E03-C2AB-C5BF-AC78-F3758E2AF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61" y="365125"/>
            <a:ext cx="10515600" cy="1325563"/>
          </a:xfrm>
        </p:spPr>
        <p:txBody>
          <a:bodyPr>
            <a:normAutofit/>
          </a:bodyPr>
          <a:lstStyle/>
          <a:p>
            <a:r>
              <a:rPr lang="ja-JP" altLang="en-US" sz="3600" dirty="0"/>
              <a:t>完成した</a:t>
            </a:r>
            <a:r>
              <a:rPr kumimoji="1" lang="ja-JP" altLang="en-US" sz="3600" dirty="0"/>
              <a:t>画面</a:t>
            </a:r>
            <a:br>
              <a:rPr kumimoji="1" lang="en-US" altLang="ja-JP" sz="3600" dirty="0"/>
            </a:br>
            <a:r>
              <a:rPr kumimoji="1" lang="en-US" altLang="ja-JP" sz="3600" dirty="0"/>
              <a:t>(</a:t>
            </a:r>
            <a:r>
              <a:rPr kumimoji="1" lang="ja-JP" altLang="en-US" sz="3600" dirty="0"/>
              <a:t>タスク追加画面詳細</a:t>
            </a:r>
            <a:r>
              <a:rPr kumimoji="1" lang="en-US" altLang="ja-JP" sz="3600" dirty="0"/>
              <a:t>)</a:t>
            </a:r>
            <a:endParaRPr kumimoji="1" lang="ja-JP" altLang="en-US" sz="3600" dirty="0"/>
          </a:p>
        </p:txBody>
      </p: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DE396541-2C9B-62AE-182D-D2953C3A8308}"/>
              </a:ext>
            </a:extLst>
          </p:cNvPr>
          <p:cNvGrpSpPr/>
          <p:nvPr/>
        </p:nvGrpSpPr>
        <p:grpSpPr>
          <a:xfrm>
            <a:off x="347800" y="2019427"/>
            <a:ext cx="5683768" cy="4749979"/>
            <a:chOff x="347800" y="2239711"/>
            <a:chExt cx="5683768" cy="4749979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6A4B3C4C-178B-F962-BF9A-AF8F9F1EDFC6}"/>
                </a:ext>
              </a:extLst>
            </p:cNvPr>
            <p:cNvSpPr/>
            <p:nvPr/>
          </p:nvSpPr>
          <p:spPr>
            <a:xfrm>
              <a:off x="899961" y="2679700"/>
              <a:ext cx="2243289" cy="635000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54D11158-A083-A036-95E5-17C42442B951}"/>
                </a:ext>
              </a:extLst>
            </p:cNvPr>
            <p:cNvSpPr txBox="1"/>
            <p:nvPr/>
          </p:nvSpPr>
          <p:spPr>
            <a:xfrm>
              <a:off x="811453" y="2239711"/>
              <a:ext cx="469322" cy="4399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 dirty="0">
                  <a:solidFill>
                    <a:srgbClr val="FF0000"/>
                  </a:solidFill>
                </a:rPr>
                <a:t>①</a:t>
              </a: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B11486CB-F95F-4A7B-C996-4A7BF9622F8E}"/>
                </a:ext>
              </a:extLst>
            </p:cNvPr>
            <p:cNvSpPr/>
            <p:nvPr/>
          </p:nvSpPr>
          <p:spPr>
            <a:xfrm>
              <a:off x="3295836" y="2679700"/>
              <a:ext cx="2243289" cy="635000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0E6795C9-F8BB-19A1-A341-007FAE2FBF40}"/>
                </a:ext>
              </a:extLst>
            </p:cNvPr>
            <p:cNvSpPr txBox="1"/>
            <p:nvPr/>
          </p:nvSpPr>
          <p:spPr>
            <a:xfrm>
              <a:off x="3295836" y="2239711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 dirty="0">
                  <a:solidFill>
                    <a:srgbClr val="FF0000"/>
                  </a:solidFill>
                </a:rPr>
                <a:t>②</a:t>
              </a: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0406EDB5-642F-58C2-FA55-6077C4B05D41}"/>
                </a:ext>
              </a:extLst>
            </p:cNvPr>
            <p:cNvSpPr/>
            <p:nvPr/>
          </p:nvSpPr>
          <p:spPr>
            <a:xfrm>
              <a:off x="899961" y="3527516"/>
              <a:ext cx="4713439" cy="629722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A61D2282-D7B0-C4EC-22EE-B90CA728AEB9}"/>
                </a:ext>
              </a:extLst>
            </p:cNvPr>
            <p:cNvSpPr txBox="1"/>
            <p:nvPr/>
          </p:nvSpPr>
          <p:spPr>
            <a:xfrm>
              <a:off x="347800" y="3534694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 dirty="0">
                  <a:solidFill>
                    <a:srgbClr val="FF0000"/>
                  </a:solidFill>
                </a:rPr>
                <a:t>③</a:t>
              </a:r>
            </a:p>
          </p:txBody>
        </p:sp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D530E7A7-19DE-6E52-A218-97E4FD585CCF}"/>
                </a:ext>
              </a:extLst>
            </p:cNvPr>
            <p:cNvSpPr/>
            <p:nvPr/>
          </p:nvSpPr>
          <p:spPr>
            <a:xfrm>
              <a:off x="1046114" y="5124297"/>
              <a:ext cx="4493011" cy="1077166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F2F9DFBC-F02A-E6CC-53D9-087B98D11523}"/>
                </a:ext>
              </a:extLst>
            </p:cNvPr>
            <p:cNvSpPr txBox="1"/>
            <p:nvPr/>
          </p:nvSpPr>
          <p:spPr>
            <a:xfrm>
              <a:off x="553671" y="5560965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 dirty="0">
                  <a:solidFill>
                    <a:srgbClr val="FF0000"/>
                  </a:solidFill>
                </a:rPr>
                <a:t>⑤</a:t>
              </a:r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B1695CB2-8A8E-1485-F3F4-9B711D83F537}"/>
                </a:ext>
              </a:extLst>
            </p:cNvPr>
            <p:cNvSpPr/>
            <p:nvPr/>
          </p:nvSpPr>
          <p:spPr>
            <a:xfrm>
              <a:off x="4511589" y="6383265"/>
              <a:ext cx="976093" cy="439989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FC4F7B23-C34D-696A-9477-E6852B18244E}"/>
                </a:ext>
              </a:extLst>
            </p:cNvPr>
            <p:cNvSpPr txBox="1"/>
            <p:nvPr/>
          </p:nvSpPr>
          <p:spPr>
            <a:xfrm>
              <a:off x="5539125" y="6528025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 dirty="0">
                  <a:solidFill>
                    <a:srgbClr val="FF0000"/>
                  </a:solidFill>
                </a:rPr>
                <a:t>⑥</a:t>
              </a:r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D8D0660D-1C9F-51AD-A69F-51F619707160}"/>
                </a:ext>
              </a:extLst>
            </p:cNvPr>
            <p:cNvSpPr/>
            <p:nvPr/>
          </p:nvSpPr>
          <p:spPr>
            <a:xfrm>
              <a:off x="899961" y="4312773"/>
              <a:ext cx="4713439" cy="629722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0CCB6FA9-D598-CFDC-A0F9-E938AD76BCCD}"/>
                </a:ext>
              </a:extLst>
            </p:cNvPr>
            <p:cNvSpPr txBox="1"/>
            <p:nvPr/>
          </p:nvSpPr>
          <p:spPr>
            <a:xfrm>
              <a:off x="347800" y="4319951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 dirty="0">
                  <a:solidFill>
                    <a:srgbClr val="FF0000"/>
                  </a:solidFill>
                </a:rPr>
                <a:t>④</a:t>
              </a:r>
            </a:p>
          </p:txBody>
        </p:sp>
      </p:grpSp>
      <p:graphicFrame>
        <p:nvGraphicFramePr>
          <p:cNvPr id="32" name="オブジェクト 31">
            <a:extLst>
              <a:ext uri="{FF2B5EF4-FFF2-40B4-BE49-F238E27FC236}">
                <a16:creationId xmlns:a16="http://schemas.microsoft.com/office/drawing/2014/main" id="{8AF94FB2-27CD-61BA-569B-5C29506FD4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6002215"/>
              </p:ext>
            </p:extLst>
          </p:nvPr>
        </p:nvGraphicFramePr>
        <p:xfrm>
          <a:off x="6000750" y="2514447"/>
          <a:ext cx="4860925" cy="219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091834" imgH="1851873" progId="Excel.Sheet.12">
                  <p:embed/>
                </p:oleObj>
              </mc:Choice>
              <mc:Fallback>
                <p:oleObj name="Worksheet" r:id="rId3" imgW="4091834" imgH="1851873" progId="Excel.Sheet.12">
                  <p:embed/>
                  <p:pic>
                    <p:nvPicPr>
                      <p:cNvPr id="32" name="オブジェクト 31">
                        <a:extLst>
                          <a:ext uri="{FF2B5EF4-FFF2-40B4-BE49-F238E27FC236}">
                            <a16:creationId xmlns:a16="http://schemas.microsoft.com/office/drawing/2014/main" id="{EFA99EBF-F47F-1B90-40DD-BFD94E8E13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00750" y="2514447"/>
                        <a:ext cx="4860925" cy="2198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79306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B2042-AF9C-B072-231C-331B710A0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C1B8A60A-9229-6406-8F6F-CB432AA81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961" y="1503554"/>
            <a:ext cx="4209490" cy="517787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5290C27A-D339-A7E6-06A8-022714CF6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61" y="365125"/>
            <a:ext cx="10515600" cy="1325563"/>
          </a:xfrm>
        </p:spPr>
        <p:txBody>
          <a:bodyPr>
            <a:normAutofit/>
          </a:bodyPr>
          <a:lstStyle/>
          <a:p>
            <a:r>
              <a:rPr lang="ja-JP" altLang="en-US" sz="3600" dirty="0"/>
              <a:t>完成した</a:t>
            </a:r>
            <a:r>
              <a:rPr kumimoji="1" lang="ja-JP" altLang="en-US" sz="3600" dirty="0"/>
              <a:t>画面</a:t>
            </a:r>
            <a:br>
              <a:rPr kumimoji="1" lang="en-US" altLang="ja-JP" sz="3600" dirty="0"/>
            </a:br>
            <a:r>
              <a:rPr kumimoji="1" lang="en-US" altLang="ja-JP" sz="3600" dirty="0"/>
              <a:t>(</a:t>
            </a:r>
            <a:r>
              <a:rPr kumimoji="1" lang="ja-JP" altLang="en-US" sz="3600" dirty="0"/>
              <a:t>タスク</a:t>
            </a:r>
            <a:r>
              <a:rPr lang="ja-JP" altLang="en-US" sz="3600" dirty="0"/>
              <a:t>編集</a:t>
            </a:r>
            <a:r>
              <a:rPr kumimoji="1" lang="ja-JP" altLang="en-US" sz="3600" dirty="0"/>
              <a:t>画面詳細</a:t>
            </a:r>
            <a:r>
              <a:rPr kumimoji="1" lang="en-US" altLang="ja-JP" sz="3600" dirty="0"/>
              <a:t>)</a:t>
            </a:r>
            <a:endParaRPr kumimoji="1" lang="ja-JP" altLang="en-US" sz="3600" dirty="0"/>
          </a:p>
        </p:txBody>
      </p: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30864A94-4035-A935-205F-D2A7E47DB027}"/>
              </a:ext>
            </a:extLst>
          </p:cNvPr>
          <p:cNvGrpSpPr/>
          <p:nvPr/>
        </p:nvGrpSpPr>
        <p:grpSpPr>
          <a:xfrm>
            <a:off x="395480" y="2943568"/>
            <a:ext cx="5031471" cy="3549307"/>
            <a:chOff x="331048" y="2712915"/>
            <a:chExt cx="5031471" cy="3549307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426F4067-744C-C740-3ADB-F6EDBB9EE6E0}"/>
                </a:ext>
              </a:extLst>
            </p:cNvPr>
            <p:cNvSpPr/>
            <p:nvPr/>
          </p:nvSpPr>
          <p:spPr>
            <a:xfrm>
              <a:off x="899962" y="2727243"/>
              <a:ext cx="1941644" cy="550966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EA5FD1AC-F23E-9DF9-FE48-4FCAAE4644BD}"/>
                </a:ext>
              </a:extLst>
            </p:cNvPr>
            <p:cNvSpPr txBox="1"/>
            <p:nvPr/>
          </p:nvSpPr>
          <p:spPr>
            <a:xfrm>
              <a:off x="347800" y="2712915"/>
              <a:ext cx="469322" cy="4399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 dirty="0">
                  <a:solidFill>
                    <a:srgbClr val="FF0000"/>
                  </a:solidFill>
                </a:rPr>
                <a:t>①</a:t>
              </a: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C2035E4D-94EB-5FF5-4EBF-E87DB6172D23}"/>
                </a:ext>
              </a:extLst>
            </p:cNvPr>
            <p:cNvSpPr/>
            <p:nvPr/>
          </p:nvSpPr>
          <p:spPr>
            <a:xfrm>
              <a:off x="2963077" y="2727243"/>
              <a:ext cx="1851380" cy="550966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75D193C8-B9E8-6A53-4634-995EBED4660D}"/>
                </a:ext>
              </a:extLst>
            </p:cNvPr>
            <p:cNvSpPr txBox="1"/>
            <p:nvPr/>
          </p:nvSpPr>
          <p:spPr>
            <a:xfrm>
              <a:off x="4870076" y="2712915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 dirty="0">
                  <a:solidFill>
                    <a:srgbClr val="FF0000"/>
                  </a:solidFill>
                </a:rPr>
                <a:t>②</a:t>
              </a: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18E70C54-1E5B-44CC-4AA9-5746835B86F9}"/>
                </a:ext>
              </a:extLst>
            </p:cNvPr>
            <p:cNvSpPr/>
            <p:nvPr/>
          </p:nvSpPr>
          <p:spPr>
            <a:xfrm>
              <a:off x="899962" y="3534693"/>
              <a:ext cx="3914496" cy="494431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E4D05EF8-CF2C-4704-6A97-7451E8F2B513}"/>
                </a:ext>
              </a:extLst>
            </p:cNvPr>
            <p:cNvSpPr txBox="1"/>
            <p:nvPr/>
          </p:nvSpPr>
          <p:spPr>
            <a:xfrm>
              <a:off x="347800" y="3534694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 dirty="0">
                  <a:solidFill>
                    <a:srgbClr val="FF0000"/>
                  </a:solidFill>
                </a:rPr>
                <a:t>③</a:t>
              </a:r>
            </a:p>
          </p:txBody>
        </p:sp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23378181-E516-C467-7A1F-4389F4188A4F}"/>
                </a:ext>
              </a:extLst>
            </p:cNvPr>
            <p:cNvSpPr/>
            <p:nvPr/>
          </p:nvSpPr>
          <p:spPr>
            <a:xfrm>
              <a:off x="898360" y="4707590"/>
              <a:ext cx="3914496" cy="875051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860799FB-11C2-0060-BCAC-80CE8B7942F6}"/>
                </a:ext>
              </a:extLst>
            </p:cNvPr>
            <p:cNvSpPr txBox="1"/>
            <p:nvPr/>
          </p:nvSpPr>
          <p:spPr>
            <a:xfrm>
              <a:off x="331048" y="5016082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 dirty="0">
                  <a:solidFill>
                    <a:srgbClr val="FF0000"/>
                  </a:solidFill>
                </a:rPr>
                <a:t>⑤</a:t>
              </a:r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282CAAAA-DAC6-9531-1835-39FA04FA0078}"/>
                </a:ext>
              </a:extLst>
            </p:cNvPr>
            <p:cNvSpPr/>
            <p:nvPr/>
          </p:nvSpPr>
          <p:spPr>
            <a:xfrm>
              <a:off x="3947919" y="5750057"/>
              <a:ext cx="864938" cy="439989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C0564561-1814-DCAF-F3DB-8CF24781B798}"/>
                </a:ext>
              </a:extLst>
            </p:cNvPr>
            <p:cNvSpPr txBox="1"/>
            <p:nvPr/>
          </p:nvSpPr>
          <p:spPr>
            <a:xfrm>
              <a:off x="4870076" y="5800557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 dirty="0">
                  <a:solidFill>
                    <a:srgbClr val="FF0000"/>
                  </a:solidFill>
                </a:rPr>
                <a:t>⑥</a:t>
              </a:r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2CCAD973-67BA-75F6-0B77-0FBFD9047A86}"/>
                </a:ext>
              </a:extLst>
            </p:cNvPr>
            <p:cNvSpPr/>
            <p:nvPr/>
          </p:nvSpPr>
          <p:spPr>
            <a:xfrm>
              <a:off x="899963" y="4117197"/>
              <a:ext cx="3820548" cy="494431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1B4193AA-E096-2BE7-BF1F-7ACCE2736081}"/>
                </a:ext>
              </a:extLst>
            </p:cNvPr>
            <p:cNvSpPr txBox="1"/>
            <p:nvPr/>
          </p:nvSpPr>
          <p:spPr>
            <a:xfrm>
              <a:off x="347800" y="4319951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 dirty="0">
                  <a:solidFill>
                    <a:srgbClr val="FF0000"/>
                  </a:solidFill>
                </a:rPr>
                <a:t>④</a:t>
              </a:r>
            </a:p>
          </p:txBody>
        </p:sp>
      </p:grpSp>
      <p:graphicFrame>
        <p:nvGraphicFramePr>
          <p:cNvPr id="32" name="オブジェクト 31">
            <a:extLst>
              <a:ext uri="{FF2B5EF4-FFF2-40B4-BE49-F238E27FC236}">
                <a16:creationId xmlns:a16="http://schemas.microsoft.com/office/drawing/2014/main" id="{6F1B7AB1-2AAB-F9AB-BEBD-08ECA262AF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00750" y="2514447"/>
          <a:ext cx="4860925" cy="219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091834" imgH="1851873" progId="Excel.Sheet.12">
                  <p:embed/>
                </p:oleObj>
              </mc:Choice>
              <mc:Fallback>
                <p:oleObj name="Worksheet" r:id="rId3" imgW="4091834" imgH="1851873" progId="Excel.Sheet.12">
                  <p:embed/>
                  <p:pic>
                    <p:nvPicPr>
                      <p:cNvPr id="32" name="オブジェクト 31">
                        <a:extLst>
                          <a:ext uri="{FF2B5EF4-FFF2-40B4-BE49-F238E27FC236}">
                            <a16:creationId xmlns:a16="http://schemas.microsoft.com/office/drawing/2014/main" id="{8AF94FB2-27CD-61BA-569B-5C29506FD4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00750" y="2514447"/>
                        <a:ext cx="4860925" cy="2198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00524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CA737CC-437E-43B3-F312-82E76A52A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4438"/>
            <a:ext cx="10515600" cy="512213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900"/>
              </a:spcBef>
              <a:buNone/>
            </a:pPr>
            <a:r>
              <a:rPr kumimoji="1" lang="ja-JP" altLang="en-US" sz="3200" b="1" dirty="0"/>
              <a:t>反省点</a:t>
            </a:r>
            <a:endParaRPr kumimoji="1" lang="en-US" altLang="ja-JP" sz="3200" b="1" dirty="0"/>
          </a:p>
          <a:p>
            <a:pPr marL="0" indent="0">
              <a:lnSpc>
                <a:spcPct val="110000"/>
              </a:lnSpc>
              <a:spcBef>
                <a:spcPts val="900"/>
              </a:spcBef>
              <a:buNone/>
            </a:pPr>
            <a:r>
              <a:rPr lang="ja-JP" altLang="en-US" sz="2400" dirty="0"/>
              <a:t>・連携不足で、作業範囲等の情報の行き違いが発生していた</a:t>
            </a:r>
            <a:endParaRPr lang="en-US" altLang="ja-JP" sz="2400" dirty="0"/>
          </a:p>
          <a:p>
            <a:pPr marL="0" indent="0">
              <a:lnSpc>
                <a:spcPct val="110000"/>
              </a:lnSpc>
              <a:spcBef>
                <a:spcPts val="900"/>
              </a:spcBef>
              <a:buNone/>
            </a:pPr>
            <a:r>
              <a:rPr lang="ja-JP" altLang="en-US" sz="2400" dirty="0"/>
              <a:t>・最初の設計段階でチャレンジ課題まで想定して作れてなかった</a:t>
            </a:r>
            <a:endParaRPr lang="en-US" altLang="ja-JP" sz="2400" dirty="0"/>
          </a:p>
          <a:p>
            <a:pPr marL="0" indent="0">
              <a:lnSpc>
                <a:spcPct val="110000"/>
              </a:lnSpc>
              <a:spcBef>
                <a:spcPts val="900"/>
              </a:spcBef>
              <a:buNone/>
            </a:pPr>
            <a:endParaRPr lang="en-US" altLang="ja-JP" sz="2400" dirty="0"/>
          </a:p>
          <a:p>
            <a:pPr marL="0" indent="0">
              <a:lnSpc>
                <a:spcPct val="110000"/>
              </a:lnSpc>
              <a:spcBef>
                <a:spcPts val="900"/>
              </a:spcBef>
              <a:buNone/>
            </a:pPr>
            <a:r>
              <a:rPr lang="ja-JP" altLang="en-US" sz="3200" b="1" dirty="0"/>
              <a:t>学び</a:t>
            </a:r>
            <a:endParaRPr lang="en-US" altLang="ja-JP" sz="3200" b="1" dirty="0"/>
          </a:p>
          <a:p>
            <a:pPr marL="0" indent="0">
              <a:lnSpc>
                <a:spcPct val="110000"/>
              </a:lnSpc>
              <a:spcBef>
                <a:spcPts val="900"/>
              </a:spcBef>
              <a:buNone/>
            </a:pPr>
            <a:r>
              <a:rPr lang="ja-JP" altLang="en-US" sz="2400" dirty="0"/>
              <a:t>・積極的に報告をし、認識合わせを行うことが重要だと感じた</a:t>
            </a:r>
            <a:endParaRPr lang="en-US" altLang="ja-JP" sz="2400" dirty="0"/>
          </a:p>
          <a:p>
            <a:pPr marL="0" indent="0">
              <a:lnSpc>
                <a:spcPct val="110000"/>
              </a:lnSpc>
              <a:spcBef>
                <a:spcPts val="900"/>
              </a:spcBef>
              <a:buNone/>
            </a:pPr>
            <a:r>
              <a:rPr lang="ja-JP" altLang="en-US" sz="2400" dirty="0"/>
              <a:t>・所掌範囲や設計などについて、正確</a:t>
            </a:r>
            <a:r>
              <a:rPr lang="en-US" altLang="ja-JP" sz="2400" dirty="0"/>
              <a:t>, </a:t>
            </a:r>
            <a:r>
              <a:rPr lang="ja-JP" altLang="en-US" sz="2400" dirty="0"/>
              <a:t>詳細に決めておく重要性を実感した</a:t>
            </a:r>
            <a:endParaRPr lang="en-US" altLang="ja-JP" sz="2400" dirty="0"/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72DF1746-A7D9-46F6-A44A-819044287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61" y="365125"/>
            <a:ext cx="10515600" cy="1325563"/>
          </a:xfrm>
        </p:spPr>
        <p:txBody>
          <a:bodyPr>
            <a:normAutofit/>
          </a:bodyPr>
          <a:lstStyle/>
          <a:p>
            <a:r>
              <a:rPr lang="ja-JP" altLang="en-US" sz="3600" dirty="0"/>
              <a:t>反省点・学び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578255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1269</TotalTime>
  <Words>194</Words>
  <Application>Microsoft Office PowerPoint</Application>
  <PresentationFormat>ワイド画面</PresentationFormat>
  <Paragraphs>43</Paragraphs>
  <Slides>11</Slides>
  <Notes>2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2</vt:i4>
      </vt:variant>
      <vt:variant>
        <vt:lpstr>スライド タイトル</vt:lpstr>
      </vt:variant>
      <vt:variant>
        <vt:i4>11</vt:i4>
      </vt:variant>
    </vt:vector>
  </HeadingPairs>
  <TitlesOfParts>
    <vt:vector size="17" baseType="lpstr">
      <vt:lpstr>游ゴシック</vt:lpstr>
      <vt:lpstr>游ゴシック Light</vt:lpstr>
      <vt:lpstr>Arial</vt:lpstr>
      <vt:lpstr>Office テーマ</vt:lpstr>
      <vt:lpstr>Microsoft Excel ワークシート</vt:lpstr>
      <vt:lpstr>Worksheet</vt:lpstr>
      <vt:lpstr>チーム開発課題</vt:lpstr>
      <vt:lpstr>画面詳細設計 (DB構成)</vt:lpstr>
      <vt:lpstr>画面詳細設計 (メイン画面)</vt:lpstr>
      <vt:lpstr>画面詳細設計 (タスク新規作成画面)</vt:lpstr>
      <vt:lpstr>画面詳細設計 (タスク編集画面)</vt:lpstr>
      <vt:lpstr>画面詳細設計 (ファイル構成, 担当分け)</vt:lpstr>
      <vt:lpstr>完成した画面 (メイン画面)</vt:lpstr>
      <vt:lpstr>完成した画面 (メイン画面詳細)</vt:lpstr>
      <vt:lpstr>完成した画面 (タスク追加画面詳細)</vt:lpstr>
      <vt:lpstr>完成した画面 (タスク編集画面詳細)</vt:lpstr>
      <vt:lpstr>反省点・学び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大智 野間</dc:creator>
  <cp:lastModifiedBy>大智 野間</cp:lastModifiedBy>
  <cp:revision>10</cp:revision>
  <dcterms:created xsi:type="dcterms:W3CDTF">2026-05-20T05:34:31Z</dcterms:created>
  <dcterms:modified xsi:type="dcterms:W3CDTF">2026-05-25T08:23:39Z</dcterms:modified>
</cp:coreProperties>
</file>